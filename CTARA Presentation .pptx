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8" r:id="rId8"/>
    <p:sldId id="261" r:id="rId9"/>
    <p:sldId id="262" r:id="rId10"/>
    <p:sldId id="263" r:id="rId11"/>
    <p:sldId id="266" r:id="rId12"/>
    <p:sldId id="267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1AFCE-A2A5-42CA-ABC4-F9C685F29459}" v="390" dt="2026-03-30T15:04:38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570"/>
        <p:guide pos="5868"/>
        <p:guide orient="horz" pos="157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71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CITY TRAFFIC ACCIDENT RISK ANALYSIS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A471B2-ADA5-596C-E14F-8B2BDF7ED9E1}"/>
              </a:ext>
            </a:extLst>
          </p:cNvPr>
          <p:cNvSpPr txBox="1"/>
          <p:nvPr/>
        </p:nvSpPr>
        <p:spPr>
          <a:xfrm>
            <a:off x="1018060" y="2068684"/>
            <a:ext cx="1050444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31800">
              <a:buFont typeface="Times New Roman,Serif"/>
              <a:buChar char="●"/>
            </a:pPr>
            <a:r>
              <a:rPr lang="en-US" sz="2400" b="1" dirty="0">
                <a:latin typeface="Times New Roman"/>
                <a:cs typeface="Times New Roman"/>
              </a:rPr>
              <a:t>Domain       :</a:t>
            </a:r>
            <a:r>
              <a:rPr lang="en-US" sz="2400" dirty="0">
                <a:latin typeface="Times New Roman"/>
                <a:cs typeface="Times New Roman"/>
              </a:rPr>
              <a:t> Traffic </a:t>
            </a:r>
            <a:r>
              <a:rPr lang="en-US" sz="2400">
                <a:latin typeface="Times New Roman"/>
                <a:cs typeface="Times New Roman"/>
              </a:rPr>
              <a:t>Management Department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indent="-431800">
              <a:buFont typeface="Times New Roman,Serif"/>
              <a:buChar char="●"/>
            </a:pPr>
            <a:r>
              <a:rPr lang="en-US" sz="2400" b="1" dirty="0">
                <a:latin typeface="Times New Roman"/>
                <a:cs typeface="Times New Roman"/>
              </a:rPr>
              <a:t>Tools Used :</a:t>
            </a:r>
            <a:r>
              <a:rPr lang="en-US" sz="2400" dirty="0">
                <a:latin typeface="Times New Roman"/>
                <a:cs typeface="Times New Roman"/>
              </a:rPr>
              <a:t> Python, SQL, Power BI</a:t>
            </a:r>
          </a:p>
          <a:p>
            <a:pPr marL="457200" indent="-431800">
              <a:buFont typeface="Times New Roman,Serif"/>
              <a:buChar char="●"/>
            </a:pPr>
            <a:r>
              <a:rPr lang="en-US" sz="2400" b="1">
                <a:latin typeface="Times New Roman"/>
                <a:cs typeface="Times New Roman"/>
              </a:rPr>
              <a:t>Focus          : </a:t>
            </a:r>
            <a:r>
              <a:rPr lang="en-US" sz="2400">
                <a:latin typeface="Times New Roman"/>
                <a:cs typeface="Times New Roman"/>
              </a:rPr>
              <a:t>High-risk traffic accident zones using historical and real-time data to improve road safety. It aims to help authorities take proactive measures and reduce accidents through data-driven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B4F6B-488D-1CFF-55A3-78C867AA89C8}"/>
              </a:ext>
            </a:extLst>
          </p:cNvPr>
          <p:cNvSpPr txBox="1"/>
          <p:nvPr/>
        </p:nvSpPr>
        <p:spPr>
          <a:xfrm>
            <a:off x="7741345" y="4356139"/>
            <a:ext cx="401391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Prepared by :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Badam Siva Rami Reddy</a:t>
            </a:r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4400" b="1" kern="1200">
                <a:solidFill>
                  <a:srgbClr val="FFFFFF"/>
                </a:solidFill>
                <a:latin typeface="Times New Roman"/>
                <a:ea typeface="+mj-ea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5370153" y="1526033"/>
            <a:ext cx="6341529" cy="39352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Business </a:t>
            </a: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Problem</a:t>
            </a:r>
            <a:endParaRPr lang="en-US" sz="2400" b="0" i="0" u="none" strike="noStrike" kern="1200" cap="none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Project Overview and Scope</a:t>
            </a:r>
            <a:endParaRPr lang="en-US" sz="2400" b="0" i="0" u="none" strike="noStrike" kern="1200" cap="none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Project Architecture - Data F</a:t>
            </a: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low Diagram</a:t>
            </a:r>
            <a:endParaRPr lang="en-US" sz="2400" kern="12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Data </a:t>
            </a: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Dictionary</a:t>
            </a:r>
            <a:endParaRPr lang="en-US" sz="2400" b="0" i="0" u="none" strike="noStrike" kern="1200" cap="none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Exploratory Data Analysis</a:t>
            </a:r>
            <a:endParaRPr lang="en-US" sz="2400" b="0" i="0" u="none" strike="noStrike" kern="1200" cap="none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Statistical and Business Insights(EDA)</a:t>
            </a:r>
            <a:endParaRPr lang="en-US" sz="2400" kern="1200" dirty="0">
              <a:solidFill>
                <a:schemeClr val="tx1"/>
              </a:solidFill>
              <a:latin typeface="Times New Roman"/>
              <a:ea typeface="+mn-ea"/>
              <a:cs typeface="Times New Roman"/>
              <a:sym typeface="Times New Roman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 Preprocessing</a:t>
            </a:r>
            <a:endParaRPr lang="en-US" sz="2400" kern="1200" dirty="0">
              <a:solidFill>
                <a:schemeClr val="tx1"/>
              </a:solidFill>
              <a:latin typeface="Times New Roman"/>
              <a:ea typeface="+mn-ea"/>
              <a:cs typeface="Times New Roman"/>
              <a:sym typeface="Times New Roman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>
                <a:solidFill>
                  <a:schemeClr val="tx1"/>
                </a:solidFill>
                <a:latin typeface="Times New Roman"/>
                <a:ea typeface="+mn-ea"/>
                <a:cs typeface="Times New Roman"/>
                <a:sym typeface="Times New Roman"/>
              </a:rPr>
              <a:t>Data Visualization</a:t>
            </a:r>
            <a:endParaRPr lang="en-US" sz="2400" b="0" i="0" u="none" strike="noStrike" kern="1200" cap="none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indent="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rPr>
              <a:pPr marR="0" lvl="0" indent="0"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Times New Roman"/>
              <a:ea typeface="+mn-ea"/>
              <a:cs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6EA124-7059-E367-5722-BBF0BF15AF90}"/>
              </a:ext>
            </a:extLst>
          </p:cNvPr>
          <p:cNvSpPr txBox="1"/>
          <p:nvPr/>
        </p:nvSpPr>
        <p:spPr>
          <a:xfrm>
            <a:off x="222738" y="943708"/>
            <a:ext cx="112893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>
                <a:latin typeface="Times New Roman"/>
                <a:cs typeface="Times New Roman"/>
              </a:rPr>
              <a:t>--&gt; The city is experiencing a high number of traffic accidents, especially at </a:t>
            </a:r>
            <a:r>
              <a:rPr lang="en-IN" sz="2400" dirty="0">
                <a:latin typeface="Times New Roman"/>
                <a:cs typeface="Times New Roman"/>
              </a:rPr>
              <a:t>intersections and highways, due to factors such as unpredictable traffic flow, poorly timed signals, and varying road conditions. 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--&gt; Currently, there is no effective system in place to proactively identify accident-prone areas or provide early warnings, making it difficult for authorities to take preventive measures and reduce accident risks.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cs typeface="Times New Roman"/>
              </a:rPr>
              <a:t>4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167217-30DD-8CDE-0E0C-520EB2824340}"/>
              </a:ext>
            </a:extLst>
          </p:cNvPr>
          <p:cNvSpPr txBox="1"/>
          <p:nvPr/>
        </p:nvSpPr>
        <p:spPr>
          <a:xfrm>
            <a:off x="136880" y="975245"/>
            <a:ext cx="11605845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just"/>
            <a:r>
              <a:rPr lang="en-IN" sz="2200" dirty="0">
                <a:latin typeface="Times New Roman"/>
                <a:cs typeface="Times New Roman"/>
              </a:rPr>
              <a:t> ---&gt; Client : One of the city traffic depart</a:t>
            </a:r>
            <a:r>
              <a:rPr lang="en-IN" sz="2200">
                <a:latin typeface="Times New Roman"/>
                <a:cs typeface="Times New Roman"/>
              </a:rPr>
              <a:t>ment </a:t>
            </a:r>
            <a:r>
              <a:rPr lang="en-IN" sz="2200" dirty="0">
                <a:latin typeface="Times New Roman"/>
                <a:cs typeface="Times New Roman"/>
              </a:rPr>
              <a:t>in India.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IN" sz="2200" dirty="0">
                <a:latin typeface="Times New Roman"/>
                <a:cs typeface="Times New Roman"/>
              </a:rPr>
              <a:t>The project focuses on </a:t>
            </a:r>
            <a:r>
              <a:rPr lang="en-IN" sz="2200" dirty="0" err="1">
                <a:latin typeface="Times New Roman"/>
                <a:cs typeface="Times New Roman"/>
              </a:rPr>
              <a:t>analyzing</a:t>
            </a:r>
            <a:r>
              <a:rPr lang="en-IN" sz="2200" dirty="0">
                <a:latin typeface="Times New Roman"/>
                <a:cs typeface="Times New Roman"/>
              </a:rPr>
              <a:t> historical traffic accident data to identify patterns and key risk factors influencing accidents. </a:t>
            </a:r>
          </a:p>
          <a:p>
            <a:pPr marL="285750" indent="-285750" algn="just">
              <a:buChar char="•"/>
            </a:pPr>
            <a:r>
              <a:rPr lang="en-IN" sz="2200" dirty="0">
                <a:latin typeface="Times New Roman"/>
                <a:cs typeface="Times New Roman"/>
              </a:rPr>
              <a:t>It utilizes datasets including traffic flow, weather conditions, road types, and time-based variables such as peak hours and seasons. </a:t>
            </a:r>
          </a:p>
          <a:p>
            <a:pPr marL="285750" indent="-285750" algn="just">
              <a:buChar char="•"/>
            </a:pPr>
            <a:r>
              <a:rPr lang="en-IN" sz="2200">
                <a:latin typeface="Times New Roman"/>
                <a:cs typeface="Times New Roman"/>
              </a:rPr>
              <a:t>Data preprocessing techniques like cleaning, transformation, and feature engineering are applied to ensure data quality and reliability. </a:t>
            </a:r>
            <a:endParaRPr lang="en-IN" sz="2200" dirty="0"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IN" sz="2200">
                <a:latin typeface="Times New Roman"/>
                <a:cs typeface="Times New Roman"/>
              </a:rPr>
              <a:t>The project incorporates data analytics and machine learning models to predict accident-prone areas such as intersections and highways. </a:t>
            </a:r>
            <a:endParaRPr lang="en-IN" sz="2200" dirty="0"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IN" sz="2200">
                <a:latin typeface="Times New Roman"/>
                <a:cs typeface="Times New Roman"/>
              </a:rPr>
              <a:t>Interactive dashboards and visualizations are developed to provide actionable insights for traffic authorities and decision-makers. </a:t>
            </a:r>
            <a:endParaRPr lang="en-IN" sz="2200" dirty="0">
              <a:latin typeface="Times New Roman"/>
              <a:cs typeface="Times New Roman"/>
            </a:endParaRPr>
          </a:p>
          <a:p>
            <a:pPr marL="285750" indent="-285750" algn="just">
              <a:buChar char="•"/>
            </a:pPr>
            <a:r>
              <a:rPr lang="en-IN" sz="2200">
                <a:latin typeface="Times New Roman"/>
                <a:cs typeface="Times New Roman"/>
              </a:rPr>
              <a:t>The scope is limited to analysis and prediction, aiming to improve road safety and reduce accidents, without involving real-time system deployment or automated traffic control.</a:t>
            </a:r>
            <a:endParaRPr lang="en-IN" sz="2200" dirty="0">
              <a:latin typeface="Times New Roman"/>
              <a:cs typeface="Times New Roman"/>
            </a:endParaRPr>
          </a:p>
          <a:p>
            <a:pPr algn="just"/>
            <a:endParaRPr lang="en-IN" sz="2200" dirty="0">
              <a:latin typeface="Times New Roman"/>
              <a:cs typeface="Times New Roman"/>
            </a:endParaRPr>
          </a:p>
          <a:p>
            <a:pPr marL="347345" indent="-347345" algn="just"/>
            <a:endParaRPr lang="en-IN" sz="2200" dirty="0">
              <a:latin typeface="Times New Roman"/>
              <a:cs typeface="Times New Roman"/>
            </a:endParaRPr>
          </a:p>
          <a:p>
            <a:pPr algn="ctr"/>
            <a:endParaRPr lang="en-GB"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ject">
            <a:extLst>
              <a:ext uri="{FF2B5EF4-FFF2-40B4-BE49-F238E27FC236}">
                <a16:creationId xmlns:a16="http://schemas.microsoft.com/office/drawing/2014/main" id="{7E34CA8E-1F6C-7D65-0BCC-5955AF50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17"/>
          <a:stretch>
            <a:fillRect/>
          </a:stretch>
        </p:blipFill>
        <p:spPr>
          <a:xfrm>
            <a:off x="20" y="790764"/>
            <a:ext cx="12191978" cy="5635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0B743-D41B-B856-08EF-60EC9D81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-2382"/>
            <a:ext cx="11210925" cy="8023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+mj-ea"/>
                <a:cs typeface="Times New Roman"/>
              </a:rPr>
              <a:t>Project Architecture – Data Flow Diagram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17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data category&#10;&#10;AI-generated content may be incorrect.">
            <a:extLst>
              <a:ext uri="{FF2B5EF4-FFF2-40B4-BE49-F238E27FC236}">
                <a16:creationId xmlns:a16="http://schemas.microsoft.com/office/drawing/2014/main" id="{0BAD1645-AC52-8CF3-6B0A-6F3ADFB9B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41" y="900113"/>
            <a:ext cx="11941087" cy="4995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6887-07F8-3304-B190-EA59F8A1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Exploratory Data Analysis(EDA)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034BE-9EF8-C509-BBA4-992E98571F4A}"/>
              </a:ext>
            </a:extLst>
          </p:cNvPr>
          <p:cNvSpPr txBox="1"/>
          <p:nvPr/>
        </p:nvSpPr>
        <p:spPr>
          <a:xfrm>
            <a:off x="224023" y="852492"/>
            <a:ext cx="11652737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har char="•"/>
            </a:pPr>
            <a:r>
              <a:rPr lang="en-US" sz="2400">
                <a:latin typeface="Times New Roman"/>
                <a:cs typeface="Times New Roman"/>
              </a:rPr>
              <a:t>Analyzed distribution and central tendency of accident frequency, severity, and traffic </a:t>
            </a:r>
            <a:r>
              <a:rPr lang="en-US" sz="2200">
                <a:latin typeface="Times New Roman"/>
                <a:cs typeface="Times New Roman"/>
              </a:rPr>
              <a:t>conditions</a:t>
            </a:r>
            <a:r>
              <a:rPr lang="en-US" sz="240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Identified moderate accident occurrence across locations, indicating presence of high-risk zones.</a:t>
            </a:r>
          </a:p>
          <a:p>
            <a:pPr marL="342900" indent="-342900">
              <a:buChar char="•"/>
            </a:pPr>
            <a:r>
              <a:rPr lang="en-US" sz="2400">
                <a:latin typeface="Times New Roman"/>
                <a:cs typeface="Times New Roman"/>
              </a:rPr>
              <a:t>Observed consistent accident patterns over time, highlighting recurring risk factors.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lang="en-US" sz="2400">
                <a:latin typeface="Times New Roman"/>
                <a:cs typeface="Times New Roman"/>
              </a:rPr>
              <a:t>Accident data shows slight skewness toward peak hours, confirming time-based risk concentration.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lang="en-US" sz="2400">
                <a:latin typeface="Times New Roman"/>
                <a:cs typeface="Times New Roman"/>
              </a:rPr>
              <a:t>Accident trends are stable with low variability, suggesting predictable traffic risk patterns.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Accident counts remain steady across weekdays, with comparatively lower incidents on weekends.</a:t>
            </a:r>
          </a:p>
          <a:p>
            <a:pPr marL="342900" indent="-342900">
              <a:buChar char="•"/>
            </a:pPr>
            <a:r>
              <a:rPr lang="en-US" sz="2400">
                <a:latin typeface="Times New Roman"/>
                <a:cs typeface="Times New Roman"/>
              </a:rPr>
              <a:t>Overall trends suggest opportunities to reduce accident risk through better traffic planning and preventive measures without major infrastructure changes.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Char char="•"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30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cs typeface="Times New Roman"/>
              </a:rPr>
              <a:t>8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>
            <a:off x="4686300" y="4057650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91575" y="4750800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1319" y="5977512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234057" y="880074"/>
            <a:ext cx="5689480" cy="54612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6457862" y="923003"/>
            <a:ext cx="5558787" cy="530031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252580" y="923003"/>
            <a:ext cx="537443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Statistical Insights</a:t>
            </a:r>
            <a:endParaRPr sz="1600" b="1" i="0" u="sng" strike="noStrike" cap="none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6556185" y="867763"/>
            <a:ext cx="537443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>
                <a:solidFill>
                  <a:srgbClr val="000000"/>
                </a:solidFill>
                <a:latin typeface="Times New Roman"/>
                <a:cs typeface="Times New Roman"/>
                <a:sym typeface="Arial"/>
              </a:rPr>
              <a:t>Business Insights</a:t>
            </a:r>
            <a:endParaRPr sz="1600" b="1" i="0" u="sng" strike="noStrike" cap="none" dirty="0">
              <a:solidFill>
                <a:srgbClr val="00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2497F-C37A-CFCE-D7A5-A71BE570871F}"/>
              </a:ext>
            </a:extLst>
          </p:cNvPr>
          <p:cNvSpPr txBox="1"/>
          <p:nvPr/>
        </p:nvSpPr>
        <p:spPr>
          <a:xfrm>
            <a:off x="258097" y="1229032"/>
            <a:ext cx="5088194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• Average accident occurrence shows a slight concentration during specific peak hours, indicating time-based risk patterns.</a:t>
            </a:r>
          </a:p>
          <a:p>
            <a:r>
              <a:rPr lang="en-US" sz="1800">
                <a:latin typeface="Times New Roman"/>
                <a:cs typeface="Times New Roman"/>
              </a:rPr>
              <a:t>• Accident distribution across locations reflects moderate clustering, highlighting certain high-risk zones.</a:t>
            </a:r>
          </a:p>
          <a:p>
            <a:r>
              <a:rPr lang="en-US" sz="1800" dirty="0">
                <a:latin typeface="Times New Roman"/>
                <a:cs typeface="Times New Roman"/>
              </a:rPr>
              <a:t>• A significant proportion of accidents occurs under specific conditions such as poor lighting and adverse weather, indicating environmental.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• Accident patterns show consistent trends over time, suggesting stable but concerning risk.</a:t>
            </a:r>
            <a:r>
              <a:rPr lang="en-US" sz="1800" dirty="0">
                <a:latin typeface="Times New Roman"/>
                <a:cs typeface="Times New Roman"/>
              </a:rPr>
              <a:t> 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• No major data gaps or anomalies are observed, ensuring reliability of the analysis.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• Daily accident counts are moderate with limited variation, indicating steady traffic risk levels.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• Accident frequency is relatively higher on weekdays compared to weekends due to increased traffic volume.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"/>
            </a:pP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5526F-8D38-D14C-A7DF-7C8101B08BE5}"/>
              </a:ext>
            </a:extLst>
          </p:cNvPr>
          <p:cNvSpPr txBox="1"/>
          <p:nvPr/>
        </p:nvSpPr>
        <p:spPr>
          <a:xfrm>
            <a:off x="6452419" y="1179872"/>
            <a:ext cx="537087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• High occurrence of accidents in specific zones indicates critical risk areas requiring immediate attention.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• Frequent accidents during peak hours highlight the need for better traffic management and signal optimization.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• Lack of recorded anomalies may indicate potential data limitations or underreporting of incidents.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• Consistent accident patterns suggest an opportunity to implement preventive measures without major infrastructure changes.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• Lower accident frequency during weekends indicates variation in traffic volume and risk levels.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• Authorities can reduce accident rates and improve road safety by using data-driven planning and targeted interventions.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"/>
            </a:pPr>
            <a:endParaRPr lang="en-US" sz="1800" dirty="0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9" name="Google Shape;129;p30"/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D56045-9405-9B46-9A6D-F27B159AC55E}"/>
              </a:ext>
            </a:extLst>
          </p:cNvPr>
          <p:cNvSpPr txBox="1"/>
          <p:nvPr/>
        </p:nvSpPr>
        <p:spPr>
          <a:xfrm>
            <a:off x="231531" y="931984"/>
            <a:ext cx="1109003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Reviewed the dataset structure and understood the business context of traffic accident data (location, time, weather, road conditions, etc.).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Corrected data types for date/time, numerical (speed, traffic volume), and categorical fields (weather, road type).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Handled missing values using statistical techniques and domain-based assumptions (e.g., weather or traffic conditions).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Removed duplicate and inconsistent accident records to ensure data accuracy.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Standardized categorical values such as location names, weather conditions, and road classifications.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Detected and treated outliers in variables like speed, accident severity, and traffic density.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Created derived features such as accident frequency, peak-hour indicators, and risk levels based on conditions.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Validated data consistency by checking logical constraints (e.g., speed limits, time ranges, accident severity levels). </a:t>
            </a:r>
            <a:endParaRPr lang="en-GB" sz="2000" dirty="0"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GB" sz="2000">
                <a:latin typeface="Times New Roman"/>
                <a:cs typeface="Times New Roman"/>
              </a:rPr>
              <a:t>Prepared the final cleaned dataset for Exploratory Data Analysis (EDA) and dashboard development using Power BI.</a:t>
            </a:r>
            <a:endParaRPr lang="en-GB" sz="2000" dirty="0">
              <a:latin typeface="Times New Roman"/>
              <a:cs typeface="Times New Roman"/>
            </a:endParaRPr>
          </a:p>
          <a:p>
            <a:endParaRPr lang="en-GB" sz="2000" dirty="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endParaRPr lang="en-GB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Calibri"/>
              <a:cs typeface="Times New Roman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02D433-69D2-7641-D90D-C4372C239302}"/>
              </a:ext>
            </a:extLst>
          </p:cNvPr>
          <p:cNvSpPr txBox="1"/>
          <p:nvPr/>
        </p:nvSpPr>
        <p:spPr>
          <a:xfrm>
            <a:off x="122916" y="913165"/>
            <a:ext cx="1206057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• Designed an interactive Power BI dashboard to monitor traffic accident patterns.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 Used KPI cards to display total accidents, high-risk zones, and accident severity levels.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 Created bar charts to compare accident frequency across road types, weather conditions, and locations.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 Used line charts to analyze daily, monthly, and seasonal accident trends.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 Implemented location-wise and condition-based filters for detailed drill-down analysis.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 Visualized the impact of factors like traffic volume, lighting, and weather on accident occurrence.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• Enabled quick identification of accident-prone areas and peak risk periods.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 Provided clear visual insights to support traffic management and safety decision-making.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9301C-8C59-E55D-54A2-B4E545A5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1" y="65519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Visualization Using Power BI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75DAD2-E882-2126-0B07-69368FD06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8" y="1391891"/>
            <a:ext cx="11222015" cy="546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0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E9B-66B6-1851-582B-582E91B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Visualization Using Power BI(KPI Cards)</a:t>
            </a:r>
          </a:p>
        </p:txBody>
      </p:sp>
      <p:pic>
        <p:nvPicPr>
          <p:cNvPr id="3" name="Picture 2" descr="A screenshot of a number dashboard&#10;&#10;AI-generated content may be incorrect.">
            <a:extLst>
              <a:ext uri="{FF2B5EF4-FFF2-40B4-BE49-F238E27FC236}">
                <a16:creationId xmlns:a16="http://schemas.microsoft.com/office/drawing/2014/main" id="{CEE53A4B-CDF0-A513-86F3-33D45B2CE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98" y="900570"/>
            <a:ext cx="10689789" cy="550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9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CITY TRAFFIC ACCIDENT RISK ANALYSIS</vt:lpstr>
      <vt:lpstr>Contents</vt:lpstr>
      <vt:lpstr>Business Problem</vt:lpstr>
      <vt:lpstr>Project Overview and Scope</vt:lpstr>
      <vt:lpstr>Project Architecture – Data Flow Diagram</vt:lpstr>
      <vt:lpstr>Data Dictionary </vt:lpstr>
      <vt:lpstr>Exploratory Data Analysis(EDA)</vt:lpstr>
      <vt:lpstr>Exploratory Data Analysis [EDA]</vt:lpstr>
      <vt:lpstr>Data Preprocessing</vt:lpstr>
      <vt:lpstr>Data Visualization </vt:lpstr>
      <vt:lpstr>Data Visualization Using Power BI</vt:lpstr>
      <vt:lpstr>Data Visualization Using Power BI(KPI Cards)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VIKAS BARTHWAL</dc:creator>
  <cp:revision>341</cp:revision>
  <dcterms:created xsi:type="dcterms:W3CDTF">2022-02-16T01:47:29Z</dcterms:created>
  <dcterms:modified xsi:type="dcterms:W3CDTF">2026-03-30T15:04:54Z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